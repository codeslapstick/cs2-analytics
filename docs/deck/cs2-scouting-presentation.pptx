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7.jp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95400" y="2828925"/>
            <a:ext cx="2667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0" y="2828925"/>
            <a:ext cx="2667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2828925"/>
            <a:ext cx="2667000" cy="2667000"/>
          </a:xfrm>
          <a:prstGeom prst="rect">
            <a:avLst/>
          </a:prstGeom>
          <a:solidFill>
            <a:srgbClr val="11151C"/>
          </a:solidFill>
          <a:ln w="9525">
            <a:solidFill>
              <a:srgbClr val="0B0E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in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3581400"/>
            <a:ext cx="1162050" cy="1162050"/>
          </a:xfrm>
          <a:prstGeom prst="rect">
            <a:avLst/>
          </a:prstGeom>
        </p:spPr>
      </p:pic>
      <p:pic>
        <p:nvPicPr>
          <p:cNvPr id="7" name="Picture 6" descr="Main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4029075"/>
            <a:ext cx="381000" cy="247650"/>
          </a:xfrm>
          <a:prstGeom prst="rect">
            <a:avLst/>
          </a:prstGeom>
        </p:spPr>
      </p:pic>
      <p:pic>
        <p:nvPicPr>
          <p:cNvPr id="8" name="Picture 7" descr="Main_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3581400"/>
            <a:ext cx="1162050" cy="1162050"/>
          </a:xfrm>
          <a:prstGeom prst="rect">
            <a:avLst/>
          </a:prstGeom>
        </p:spPr>
      </p:pic>
      <p:pic>
        <p:nvPicPr>
          <p:cNvPr id="9" name="Picture 8" descr="Main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050" y="4029075"/>
            <a:ext cx="3810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" y="438150"/>
            <a:ext cx="10991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625C52"/>
                </a:solidFill>
                <a:latin typeface="Chakra Petch"/>
              </a:rPr>
              <a:t>SP-404 SENIOR PROJECT · UTCC STECH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3721" y="1200150"/>
            <a:ext cx="8326457" cy="1419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50" b="1" i="0">
                <a:solidFill>
                  <a:srgbClr val="14161A"/>
                </a:solidFill>
                <a:latin typeface="Chakra Petch"/>
              </a:rPr>
              <a:t>ถ้ารู้ตั้งแต่ก่อนเริ่มรอบ…</a:t>
            </a:r>
          </a:p>
          <a:p>
            <a:pPr algn="ctr">
              <a:lnSpc>
                <a:spcPct val="125000"/>
              </a:lnSpc>
            </a:pPr>
            <a:r>
              <a:rPr sz="4050" b="1" i="0">
                <a:solidFill>
                  <a:srgbClr val="14161A"/>
                </a:solidFill>
                <a:latin typeface="Chakra Petch"/>
              </a:rPr>
              <a:t>ว่า</a:t>
            </a:r>
            <a:r>
              <a:rPr sz="4050" b="1" i="0">
                <a:solidFill>
                  <a:srgbClr val="B8500A"/>
                </a:solidFill>
                <a:latin typeface="Chakra Petch"/>
              </a:rPr>
              <a:t>ตรงไหน</a:t>
            </a:r>
            <a:r>
              <a:rPr sz="4050" b="1" i="0">
                <a:solidFill>
                  <a:srgbClr val="14161A"/>
                </a:solidFill>
                <a:latin typeface="Chakra Petch"/>
              </a:rPr>
              <a:t>ฝั่งเราเสียเปรียบอยู่แล้ว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2990" y="5581650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ไฟล์เดโมที่ทุกคนมีติดเครื่อง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090" y="5581650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อ่านมันให้ออก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5825" y="3105150"/>
            <a:ext cx="21717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900" b="0" i="0">
                <a:solidFill>
                  <a:srgbClr val="2B3442"/>
                </a:solidFill>
                <a:latin typeface="Consolas"/>
              </a:rPr>
              <a:t>50 42 44 45 4d 53 32 00 5a 4b 23 1a 32 44 23 1a 01 ff ff ff ff 0f a3 01 0a 08 50 42 44 45 4d 53 32 00 10 d5 6e 1a 13 45 53 4c 20 4d 61 74 63 68 20 53 65 72 76 65 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5593" y="3648075"/>
            <a:ext cx="652016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 i="0">
                <a:solidFill>
                  <a:srgbClr val="B8500A"/>
                </a:solidFill>
                <a:latin typeface="Chakra Petch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7190" y="5581650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B8500A"/>
                </a:solidFill>
                <a:latin typeface="Chakra Petch"/>
              </a:rPr>
              <a:t>แล้วได้อะไร?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5637" y="628650"/>
            <a:ext cx="10018663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06426"/>
            <a:ext cx="4953000" cy="3193852"/>
          </a:xfrm>
          <a:prstGeom prst="rect">
            <a:avLst/>
          </a:prstGeom>
          <a:solidFill>
            <a:srgbClr val="11151C"/>
          </a:solidFill>
          <a:ln w="9525">
            <a:solidFill>
              <a:srgbClr val="0B0E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67400" y="1406426"/>
            <a:ext cx="5676900" cy="6764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67400" y="2349550"/>
            <a:ext cx="5676900" cy="6764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7400" y="3292673"/>
            <a:ext cx="5676900" cy="6764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67400" y="4235797"/>
            <a:ext cx="5676900" cy="676424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5996583"/>
            <a:ext cx="10896600" cy="3661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5996583"/>
            <a:ext cx="38100" cy="366117"/>
          </a:xfrm>
          <a:prstGeom prst="rect">
            <a:avLst/>
          </a:prstGeom>
          <a:solidFill>
            <a:srgbClr val="B85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blem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2140000"/>
            <a:ext cx="171450" cy="152400"/>
          </a:xfrm>
          <a:prstGeom prst="rect">
            <a:avLst/>
          </a:prstGeom>
        </p:spPr>
      </p:pic>
      <p:pic>
        <p:nvPicPr>
          <p:cNvPr id="12" name="Picture 11" descr="Problem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3083123"/>
            <a:ext cx="171450" cy="152400"/>
          </a:xfrm>
          <a:prstGeom prst="rect">
            <a:avLst/>
          </a:prstGeom>
        </p:spPr>
      </p:pic>
      <p:pic>
        <p:nvPicPr>
          <p:cNvPr id="13" name="Picture 12" descr="Problem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4026247"/>
            <a:ext cx="1714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650" y="476250"/>
            <a:ext cx="8017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01 · ปัญหา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8191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ข้อมูลอยู่ในไฟล์อยู่แล้ว แต่ไม่มีใครมีเวลานั่งแกะ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1568351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00000000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50 42 44 45 4d 53 32 00 5a 4b 23 1a 32 44 23 1a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1761232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00000010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01 ff ff ff ff 0f a3 01 0a 08 50 42 44 45 4d 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1954113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00000020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32 00 10 d5 6e 1a 13 45 53 4c 20 4d 61 74 63 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2146995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00000030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20 53 65 72 76 65 72 20 23 31 22 0d 53 6f 75 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2339876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00000040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63 65 54 56 20 44 65 6d 6f 2a 09 64 65 5f 6d 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2532757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00000050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72 61 67 65 32 22 2f 6f 70 74 2f 63 73 32 73 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2725638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00000060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72 76 65 72 2f 69 6e 73 74 61 6e 63 65 31 2f 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2918520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00000070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61 6d 65 2f 63 73 67 6f 38 02 40 01 48 01 52 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3111401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00000080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5a 0c 76 61 6c 76 65 5f 64 65 6d 6f 5f 32 62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3304282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00000090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38 65 39 64 37 31 61 62 2d 30 34 61 31 2d 34 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3497163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000000a0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30 31 2d 62 62 36 31 2d 61 63 66 65 64 65 32 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3690045"/>
            <a:ext cx="4648200" cy="32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40" b="0" i="0">
                <a:solidFill>
                  <a:srgbClr val="4B5563"/>
                </a:solidFill>
                <a:latin typeface="Consolas"/>
              </a:rPr>
              <a:t>000000b0</a:t>
            </a:r>
            <a:r>
              <a:rPr sz="940" b="0" i="0">
                <a:solidFill>
                  <a:srgbClr val="9AA4B2"/>
                </a:solidFill>
                <a:latin typeface="Consolas"/>
              </a:rPr>
              <a:t> 63 30 34 36 68 94 54 78 eb ce 09 08 ff ff ff 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" y="4686002"/>
            <a:ext cx="5048250" cy="34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625C52"/>
                </a:solidFill>
                <a:latin typeface="Anuphan"/>
              </a:rPr>
              <a:t>นี่คือ 192 ไบต์แรกของไฟล์เดโมจริงหนึ่งนัด — เปิดด้วยอะไรก็อ่านไม่ออก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9325" y="1549301"/>
            <a:ext cx="22339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1766" y="1511201"/>
            <a:ext cx="5167759" cy="562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714"/>
              </a:lnSpc>
            </a:pPr>
            <a:r>
              <a:rPr sz="1310" b="1" i="0">
                <a:solidFill>
                  <a:srgbClr val="14161A"/>
                </a:solidFill>
                <a:latin typeface="Chakra Petch"/>
              </a:rPr>
              <a:t>หนึ่งนัด ≈ 21 รอบ</a:t>
            </a:r>
          </a:p>
          <a:p>
            <a:pPr algn="l">
              <a:lnSpc>
                <a:spcPct val="109714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ไฟล์เดียว 418 MB มีทุกวินาทีของทุกคนอยู่ข้างใน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9325" y="2492425"/>
            <a:ext cx="247204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5579" y="2454325"/>
            <a:ext cx="5143946" cy="562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714"/>
              </a:lnSpc>
            </a:pPr>
            <a:r>
              <a:rPr sz="1310" b="1" i="0">
                <a:solidFill>
                  <a:srgbClr val="14161A"/>
                </a:solidFill>
                <a:latin typeface="Chakra Petch"/>
              </a:rPr>
              <a:t>เปิดดูย้อนหลังทีละรอบ</a:t>
            </a:r>
          </a:p>
          <a:p>
            <a:pPr algn="l">
              <a:lnSpc>
                <a:spcPct val="109714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ต้องเข้าเกมแล้วกรอดูเอง ไม่มีทางลัด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9325" y="3435548"/>
            <a:ext cx="2507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150" y="3397448"/>
            <a:ext cx="5140375" cy="562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714"/>
              </a:lnSpc>
            </a:pPr>
            <a:r>
              <a:rPr sz="1310" b="1" i="0">
                <a:solidFill>
                  <a:srgbClr val="14161A"/>
                </a:solidFill>
                <a:latin typeface="Chakra Petch"/>
              </a:rPr>
              <a:t>จดเอง จำเอง ทำตารางเอง</a:t>
            </a:r>
          </a:p>
          <a:p>
            <a:pPr algn="l">
              <a:lnSpc>
                <a:spcPct val="109714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ใครตายตรงไหน ตอนไหน บ่อยแค่ไหน — นับด้วยมือ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9325" y="4378672"/>
            <a:ext cx="24779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6174" y="4340572"/>
            <a:ext cx="5143351" cy="562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714"/>
              </a:lnSpc>
            </a:pPr>
            <a:r>
              <a:rPr sz="1310" b="1" i="0">
                <a:solidFill>
                  <a:srgbClr val="14161A"/>
                </a:solidFill>
                <a:latin typeface="Chakra Petch"/>
              </a:rPr>
              <a:t>ค่อยสรุปว่าคู่แข่งเล่นยังไง</a:t>
            </a:r>
          </a:p>
          <a:p>
            <a:pPr algn="l">
              <a:lnSpc>
                <a:spcPct val="109714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กว่าจะได้ข้อสรุป รอบซ้อมถัดไปก็มาถึงแล้ว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6015633"/>
            <a:ext cx="10744200" cy="4232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80" b="1" i="0">
                <a:solidFill>
                  <a:srgbClr val="14161A"/>
                </a:solidFill>
                <a:latin typeface="Chakra Petch"/>
              </a:rPr>
              <a:t>ข้อมูลมีอยู่แล้ว แต่ยังใช้ประโยชน์ได้ไม่เต็มที่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75061" y="628650"/>
            <a:ext cx="9869239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1436638"/>
            <a:ext cx="2667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0" y="1436638"/>
            <a:ext cx="2667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1436638"/>
            <a:ext cx="2667000" cy="2667000"/>
          </a:xfrm>
          <a:prstGeom prst="rect">
            <a:avLst/>
          </a:prstGeom>
          <a:solidFill>
            <a:srgbClr val="11151C"/>
          </a:solidFill>
          <a:ln w="9525">
            <a:solidFill>
              <a:srgbClr val="0B0E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4589413"/>
            <a:ext cx="10896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5734050"/>
            <a:ext cx="108966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5734050"/>
            <a:ext cx="38100" cy="62865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lution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189113"/>
            <a:ext cx="1162050" cy="1162050"/>
          </a:xfrm>
          <a:prstGeom prst="rect">
            <a:avLst/>
          </a:prstGeom>
        </p:spPr>
      </p:pic>
      <p:pic>
        <p:nvPicPr>
          <p:cNvPr id="11" name="Picture 10" descr="Solution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2636788"/>
            <a:ext cx="381000" cy="247650"/>
          </a:xfrm>
          <a:prstGeom prst="rect">
            <a:avLst/>
          </a:prstGeom>
        </p:spPr>
      </p:pic>
      <p:pic>
        <p:nvPicPr>
          <p:cNvPr id="12" name="Picture 11" descr="Solution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050" y="2636788"/>
            <a:ext cx="381000" cy="247650"/>
          </a:xfrm>
          <a:prstGeom prst="rect">
            <a:avLst/>
          </a:prstGeom>
        </p:spPr>
      </p:pic>
      <p:pic>
        <p:nvPicPr>
          <p:cNvPr id="13" name="Picture 12" descr="mir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589038"/>
            <a:ext cx="2362200" cy="2362200"/>
          </a:xfrm>
          <a:prstGeom prst="rect">
            <a:avLst/>
          </a:prstGeom>
        </p:spPr>
      </p:pic>
      <p:pic>
        <p:nvPicPr>
          <p:cNvPr id="14" name="Picture 13" descr="Solution_fi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589038"/>
            <a:ext cx="2362200" cy="2362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50" y="476250"/>
            <a:ext cx="95116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02 · ทางออก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800100"/>
            <a:ext cx="10991850" cy="560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50" b="1" i="0">
                <a:solidFill>
                  <a:srgbClr val="B8500A"/>
                </a:solidFill>
                <a:latin typeface="Chakra Petch"/>
              </a:rPr>
              <a:t>CS2 SCOUTING</a:t>
            </a:r>
            <a:r>
              <a:rPr sz="2850" b="1" i="0">
                <a:solidFill>
                  <a:srgbClr val="14161A"/>
                </a:solidFill>
                <a:latin typeface="Chakra Petch"/>
              </a:rPr>
              <a:t> — เปลี่ยนไฟล์เดโมให้เป็นข้อมูลเชิงกลยุทธ์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2990" y="4189363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อัปโหลดไฟล์เดโม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6808" y="2412950"/>
            <a:ext cx="84028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F57AB"/>
                </a:solidFill>
                <a:latin typeface="Chakra Petch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6808" y="2908250"/>
            <a:ext cx="840284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0" i="0">
                <a:solidFill>
                  <a:srgbClr val="625C52"/>
                </a:solidFill>
                <a:latin typeface="Anuphan"/>
              </a:rPr>
              <a:t>วินาที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090" y="4189363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1F57AB"/>
                </a:solidFill>
                <a:latin typeface="Chakra Petch"/>
              </a:rPr>
              <a:t>ระบบแกะให้เองเบื้องหลัง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7190" y="4189363"/>
            <a:ext cx="30937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80" b="1" i="0">
                <a:solidFill>
                  <a:srgbClr val="B8500A"/>
                </a:solidFill>
                <a:latin typeface="Chakra Petch"/>
              </a:rPr>
              <a:t>ข้อมูลที่เอาไปวางแผนต่อได้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684" y="4751338"/>
            <a:ext cx="309924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4161A"/>
                </a:solidFill>
                <a:latin typeface="Chakra Petch"/>
              </a:rPr>
              <a:t>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684" y="5037088"/>
            <a:ext cx="30992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แมตช์ในระบบ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1446" y="4751338"/>
            <a:ext cx="309924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4161A"/>
                </a:solidFill>
                <a:latin typeface="Chakra Petch"/>
              </a:rPr>
              <a:t>1,082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446" y="5037088"/>
            <a:ext cx="30992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รอบที่แกะแล้ว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3209" y="4751338"/>
            <a:ext cx="309924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4161A"/>
                </a:solidFill>
                <a:latin typeface="Chakra Petch"/>
              </a:rPr>
              <a:t>7,404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3209" y="5037088"/>
            <a:ext cx="30992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คิลที่แกะแล้ว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972" y="4751338"/>
            <a:ext cx="309924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>
                <a:solidFill>
                  <a:srgbClr val="14161A"/>
                </a:solidFill>
                <a:latin typeface="Chakra Petch"/>
              </a:rPr>
              <a:t>7,158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972" y="5037088"/>
            <a:ext cx="30992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การปะทะที่ใช้สอนโมเดล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5753100"/>
            <a:ext cx="1074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14161A"/>
                </a:solidFill>
                <a:latin typeface="Anuphan"/>
              </a:rPr>
              <a:t>อัปโหลดเดโม → ได้ข้อมูลที่พร้อมเอาไปวางแผนทีม</a:t>
            </a:r>
            <a:r>
              <a:rPr sz="1500" b="0" i="0">
                <a:solidFill>
                  <a:srgbClr val="3A3E44"/>
                </a:solidFill>
                <a:latin typeface="Anuphan"/>
              </a:rPr>
              <a:t> · 14 วินาทีคือเวลาแกะจริงของนัดตัวอย่าง (418 MB · 21 รอบ) · ภาพขวาคือจุดปะทะจริง 7,158 ครั้งจาก 50 นัดบน de_mirage ยิ่งแดงยิ่งตายบ่อย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41327" y="628650"/>
            <a:ext cx="9502973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44526"/>
            <a:ext cx="2049661" cy="29241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" y="1454051"/>
            <a:ext cx="2030611" cy="219075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7225" y="1663601"/>
            <a:ext cx="2030611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342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867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92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9286" y="1444526"/>
            <a:ext cx="2049810" cy="29241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8811" y="1454051"/>
            <a:ext cx="2030760" cy="219075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8811" y="1663601"/>
            <a:ext cx="203076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5011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40261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35511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1021" y="1444526"/>
            <a:ext cx="2049810" cy="29241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546" y="1454051"/>
            <a:ext cx="2030760" cy="219075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0546" y="1663601"/>
            <a:ext cx="203076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56746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51996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47246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2755" y="1444526"/>
            <a:ext cx="2049810" cy="2943225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1805" y="1463576"/>
            <a:ext cx="2011710" cy="219075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1805" y="1673126"/>
            <a:ext cx="201171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78005" y="1539776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73255" y="1539776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68505" y="1539776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94490" y="1444526"/>
            <a:ext cx="2049810" cy="29241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4015" y="1454051"/>
            <a:ext cx="2030760" cy="219075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015" y="1663601"/>
            <a:ext cx="203076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8021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7546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0715" y="1530251"/>
            <a:ext cx="57150" cy="57150"/>
          </a:xfrm>
          <a:prstGeom prst="ellipse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700" y="5117009"/>
            <a:ext cx="108966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humb_overview.jpg"/>
          <p:cNvPicPr>
            <a:picLocks noChangeAspect="1"/>
          </p:cNvPicPr>
          <p:nvPr/>
        </p:nvPicPr>
        <p:blipFill>
          <a:blip r:embed="rId2"/>
          <a:srcRect l="1205" r="1204"/>
          <a:stretch>
            <a:fillRect/>
          </a:stretch>
        </p:blipFill>
        <p:spPr>
          <a:xfrm>
            <a:off x="657225" y="1673126"/>
            <a:ext cx="2030611" cy="2686050"/>
          </a:xfrm>
          <a:prstGeom prst="rect">
            <a:avLst/>
          </a:prstGeom>
        </p:spPr>
      </p:pic>
      <p:pic>
        <p:nvPicPr>
          <p:cNvPr id="36" name="Picture 35" descr="thumb_matches.jpg"/>
          <p:cNvPicPr>
            <a:picLocks noChangeAspect="1"/>
          </p:cNvPicPr>
          <p:nvPr/>
        </p:nvPicPr>
        <p:blipFill>
          <a:blip r:embed="rId3"/>
          <a:srcRect l="1201" r="1201"/>
          <a:stretch>
            <a:fillRect/>
          </a:stretch>
        </p:blipFill>
        <p:spPr>
          <a:xfrm>
            <a:off x="2868811" y="1673126"/>
            <a:ext cx="2030760" cy="2686050"/>
          </a:xfrm>
          <a:prstGeom prst="rect">
            <a:avLst/>
          </a:prstGeom>
        </p:spPr>
      </p:pic>
      <p:pic>
        <p:nvPicPr>
          <p:cNvPr id="37" name="Picture 36" descr="thumb_match.jpg"/>
          <p:cNvPicPr>
            <a:picLocks noChangeAspect="1"/>
          </p:cNvPicPr>
          <p:nvPr/>
        </p:nvPicPr>
        <p:blipFill>
          <a:blip r:embed="rId4"/>
          <a:srcRect l="1201" r="1201"/>
          <a:stretch>
            <a:fillRect/>
          </a:stretch>
        </p:blipFill>
        <p:spPr>
          <a:xfrm>
            <a:off x="5080546" y="1673126"/>
            <a:ext cx="2030760" cy="2686050"/>
          </a:xfrm>
          <a:prstGeom prst="rect">
            <a:avLst/>
          </a:prstGeom>
        </p:spPr>
      </p:pic>
      <p:pic>
        <p:nvPicPr>
          <p:cNvPr id="38" name="Picture 37" descr="thumb_round.jpg"/>
          <p:cNvPicPr>
            <a:picLocks noChangeAspect="1"/>
          </p:cNvPicPr>
          <p:nvPr/>
        </p:nvPicPr>
        <p:blipFill>
          <a:blip r:embed="rId5"/>
          <a:srcRect l="1659" r="1659"/>
          <a:stretch>
            <a:fillRect/>
          </a:stretch>
        </p:blipFill>
        <p:spPr>
          <a:xfrm>
            <a:off x="7301805" y="1682651"/>
            <a:ext cx="2011710" cy="2686050"/>
          </a:xfrm>
          <a:prstGeom prst="rect">
            <a:avLst/>
          </a:prstGeom>
        </p:spPr>
      </p:pic>
      <p:pic>
        <p:nvPicPr>
          <p:cNvPr id="39" name="Picture 38" descr="thumb_player.jpg"/>
          <p:cNvPicPr>
            <a:picLocks noChangeAspect="1"/>
          </p:cNvPicPr>
          <p:nvPr/>
        </p:nvPicPr>
        <p:blipFill>
          <a:blip r:embed="rId6"/>
          <a:srcRect l="1201" r="1201"/>
          <a:stretch>
            <a:fillRect/>
          </a:stretch>
        </p:blipFill>
        <p:spPr>
          <a:xfrm>
            <a:off x="9504015" y="1673126"/>
            <a:ext cx="2030760" cy="26860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76250"/>
            <a:ext cx="131742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03 · สิ่งที่ทำมาแล้ว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50" y="83820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ห้าหน้า ต่อกันเป็นเส้นทางเดียว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650" y="4492526"/>
            <a:ext cx="14257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652" y="4454426"/>
            <a:ext cx="67255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ภาพรวม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650" y="4683026"/>
            <a:ext cx="2144911" cy="319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ข้อมูลในระบบตอนนี้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0236" y="4492526"/>
            <a:ext cx="16639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8051" y="4454426"/>
            <a:ext cx="50423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แมตช์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0236" y="4683026"/>
            <a:ext cx="2145060" cy="319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อัปโหลด · ค้นหา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1971" y="4492526"/>
            <a:ext cx="16996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3357" y="4454426"/>
            <a:ext cx="79325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สรุปแมตช์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51971" y="4683026"/>
            <a:ext cx="2145060" cy="319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สกอร์บอร์ดเต็ม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3705" y="4511576"/>
            <a:ext cx="16698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2116" y="4473476"/>
            <a:ext cx="90621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B8500A"/>
                </a:solidFill>
                <a:latin typeface="Chakra Petch"/>
              </a:rPr>
              <a:t>รีวิวรายรอบ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3705" y="4702076"/>
            <a:ext cx="2145060" cy="319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หัวใจของระบบ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75440" y="4492526"/>
            <a:ext cx="1704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7273" y="4454426"/>
            <a:ext cx="87615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1" i="0">
                <a:solidFill>
                  <a:srgbClr val="14161A"/>
                </a:solidFill>
                <a:latin typeface="Chakra Petch"/>
              </a:rPr>
              <a:t>สถิติรายคน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5440" y="4683026"/>
            <a:ext cx="2145060" cy="319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625C52"/>
                </a:solidFill>
                <a:latin typeface="Anuphan"/>
              </a:rPr>
              <a:t>K/D · clutch · อาวุธ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075" y="5297984"/>
            <a:ext cx="240402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14161A"/>
                </a:solidFill>
                <a:latin typeface="Chakra Petch"/>
              </a:rPr>
              <a:t>51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0075" y="5574209"/>
            <a:ext cx="240402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25C52"/>
                </a:solidFill>
                <a:latin typeface="Anuphan"/>
              </a:rPr>
              <a:t>แมตช์แกะเสร็จ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37396" y="5297984"/>
            <a:ext cx="240417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14161A"/>
                </a:solidFill>
                <a:latin typeface="Chakra Petch"/>
              </a:rPr>
              <a:t>1,082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37396" y="5574209"/>
            <a:ext cx="240417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25C52"/>
                </a:solidFill>
                <a:latin typeface="Anuphan"/>
              </a:rPr>
              <a:t>รอบ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4865" y="5297984"/>
            <a:ext cx="240402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14161A"/>
                </a:solidFill>
                <a:latin typeface="Chakra Petch"/>
              </a:rPr>
              <a:t>7,404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74865" y="5574209"/>
            <a:ext cx="240402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25C52"/>
                </a:solidFill>
                <a:latin typeface="Anuphan"/>
              </a:rPr>
              <a:t>คิล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12186" y="5297984"/>
            <a:ext cx="240417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14161A"/>
                </a:solidFill>
                <a:latin typeface="Chakra Petch"/>
              </a:rPr>
              <a:t>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12186" y="5574209"/>
            <a:ext cx="240417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25C52"/>
                </a:solidFill>
                <a:latin typeface="Anuphan"/>
              </a:rPr>
              <a:t>นัดที่ใช้สอนโมเดล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9655" y="5297984"/>
            <a:ext cx="240417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14161A"/>
                </a:solidFill>
                <a:latin typeface="Chakra Petch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9655" y="5574209"/>
            <a:ext cx="240417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25C52"/>
                </a:solidFill>
                <a:latin typeface="Anuphan"/>
              </a:rPr>
              <a:t>แมพที่ปรับเทียบแล้ว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8650" y="6129338"/>
            <a:ext cx="10991850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625C52"/>
                </a:solidFill>
                <a:latin typeface="Anuphan"/>
              </a:rPr>
              <a:t>ทุกตัวเลขบนสไลด์นี้อ่านจากฐานข้อมูลจริง ณ วันนำเสนอ — ไม่ได้ตั้งไว้เอง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2473" y="628650"/>
            <a:ext cx="8623548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c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482626"/>
            <a:ext cx="7143750" cy="4476750"/>
          </a:xfrm>
          <a:prstGeom prst="rect">
            <a:avLst/>
          </a:prstGeom>
        </p:spPr>
      </p:pic>
      <p:pic>
        <p:nvPicPr>
          <p:cNvPr id="5" name="Picture 4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520726"/>
            <a:ext cx="209550" cy="209550"/>
          </a:xfrm>
          <a:prstGeom prst="rect">
            <a:avLst/>
          </a:prstGeom>
        </p:spPr>
      </p:pic>
      <p:pic>
        <p:nvPicPr>
          <p:cNvPr id="6" name="Picture 5" descr="ScreenMatches_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29619"/>
            <a:ext cx="209550" cy="209550"/>
          </a:xfrm>
          <a:prstGeom prst="rect">
            <a:avLst/>
          </a:prstGeom>
        </p:spPr>
      </p:pic>
      <p:pic>
        <p:nvPicPr>
          <p:cNvPr id="7" name="Picture 6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3338512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476250"/>
            <a:ext cx="143857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04 · หน้าจอจริง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8421" y="495300"/>
            <a:ext cx="68207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/matches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8572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 ลากไฟล์เดโมมาวาง แล้วรอ — ที่เหลือระบบทำให้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6054626"/>
            <a:ext cx="7219950" cy="34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625C52"/>
                </a:solidFill>
                <a:latin typeface="Anuphan"/>
              </a:rPr>
              <a:t> หน้ารายการแมตช์ — จุดเริ่มต้นของทุกอย่าง ตัวเลข 51 นัด คือจำนวนจริงที่อยู่ในระบบตอนนี้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1050" y="1482626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วางไฟล์ทีเดียวได้หลายนัด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1050" y="1743521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ลากมาวางในกรอบ ระบบรับเข้าคิวแล้วแกะให้เบื้องหลัง ปิดหน้าเว็บไปก่อนได้ ไม่ต้องนั่งเฝ้า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2391519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เห็นทุกนัดในตารางเดียว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1050" y="2652415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แมพ สกอร์ จำนวนรอบ จำนวนคิล และสถานะการแกะไฟล์ อยู่ครบในบรรทัดเดียว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1050" y="3300412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หาเจอเร็ว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1050" y="3561308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พิมพ์ชื่อทีมหรือชื่อไฟล์ก็ได้ กรองตามแมพหรือตามสถานะก็ได้ แล้วกดเข้ารีวิวรอบได้จากตารางเลย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3875" y="628650"/>
            <a:ext cx="7953226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482626"/>
            <a:ext cx="7143750" cy="4476750"/>
          </a:xfrm>
          <a:prstGeom prst="rect">
            <a:avLst/>
          </a:prstGeom>
        </p:spPr>
      </p:pic>
      <p:pic>
        <p:nvPicPr>
          <p:cNvPr id="5" name="Picture 4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520726"/>
            <a:ext cx="209550" cy="209550"/>
          </a:xfrm>
          <a:prstGeom prst="rect">
            <a:avLst/>
          </a:prstGeom>
        </p:spPr>
      </p:pic>
      <p:pic>
        <p:nvPicPr>
          <p:cNvPr id="6" name="Picture 5" descr="ScreenMatches_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29619"/>
            <a:ext cx="209550" cy="209550"/>
          </a:xfrm>
          <a:prstGeom prst="rect">
            <a:avLst/>
          </a:prstGeom>
        </p:spPr>
      </p:pic>
      <p:pic>
        <p:nvPicPr>
          <p:cNvPr id="7" name="Picture 6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3338512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476250"/>
            <a:ext cx="14699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05 · หน้าจอจริง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9502" y="495300"/>
            <a:ext cx="13209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/matches/{ไฟล์เดโม}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8572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 สกอร์บอร์ดที่บอกได้มากกว่าใครฆ่าได้กี่ศพ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6054626"/>
            <a:ext cx="7219950" cy="34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625C52"/>
                </a:solidFill>
                <a:latin typeface="Anuphan"/>
              </a:rPr>
              <a:t> หน้าสรุปแมตช์ — furia vs falcons-m1 · de_mirage · 21 รอบ 134 คิล ทุกตัวเลขคำนวณจากไฟล์เดโมจริง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1050" y="1482626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ตัวเลขมาตรฐานครบ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1050" y="1743521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K/D/A, HS%, ADR, KAST และ Rating คำนวณจากเดโมโดยตรง ไม่มีใครมานั่งกรอกมือ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2391519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ตัวเลขที่บอกบทบาทในทีม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1050" y="2652415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เปิดรอบ (คิลแรก/ตายแรก), Trade และ Clutch บอกว่าใครเป็นคนเปิดทาง และใครเป็นคนแก้เกม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1050" y="3300412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กดลงลึกต่อได้ทันที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1050" y="3561308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คลิกชื่อไปดูสถิติรายคน หรือเลือกรอบที่สงสัยจากตารางผลรายรอบเข้าไปดูบนแผนที่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00275" y="628650"/>
            <a:ext cx="6870055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482626"/>
            <a:ext cx="7143750" cy="4476750"/>
          </a:xfrm>
          <a:prstGeom prst="rect">
            <a:avLst/>
          </a:prstGeom>
        </p:spPr>
      </p:pic>
      <p:pic>
        <p:nvPicPr>
          <p:cNvPr id="5" name="Picture 4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520726"/>
            <a:ext cx="209550" cy="209550"/>
          </a:xfrm>
          <a:prstGeom prst="rect">
            <a:avLst/>
          </a:prstGeom>
        </p:spPr>
      </p:pic>
      <p:pic>
        <p:nvPicPr>
          <p:cNvPr id="6" name="Picture 5" descr="ScreenMatches_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29619"/>
            <a:ext cx="209550" cy="209550"/>
          </a:xfrm>
          <a:prstGeom prst="rect">
            <a:avLst/>
          </a:prstGeom>
        </p:spPr>
      </p:pic>
      <p:pic>
        <p:nvPicPr>
          <p:cNvPr id="7" name="Picture 6" descr="ScreenMatch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3338512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476250"/>
            <a:ext cx="14763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06 · หน้าจอจริง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22730" y="495300"/>
            <a:ext cx="239777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/matches/{ไฟล์เดโม}/rounds/{เลขรอบ}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8572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 หนึ่งรอบอ่านจบในแผนที่เดียว ไม่ต้องไล่ดูเดโม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6054626"/>
            <a:ext cx="7219950" cy="34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625C52"/>
                </a:solidFill>
                <a:latin typeface="Anuphan"/>
              </a:rPr>
              <a:t> หน้ารีวิวรายรอบ — หัวใจของระบบ · รอบ 10 ฝั่ง T ชนะด้วยระเบิดลง เสียคนแรกตั้งแต่วินาทีที่ 11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1050" y="1482626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เห็นทั้งรอบพร้อมกัน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1050" y="1743521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ใครอยู่ตรงไหน เดินไปทางไหน ตายที่ไหน เรียงเป็นหมายเลข 1–6 ตามลำดับเวลาที่เกิดขึ้น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1050" y="2391519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สีบอกฝั่ง หมายเลขบอกคน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1050" y="2652415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CT น้ำเงิน T ส้ม ส่วนเลขประจำตัวคงที่ทั้งแมตช์ สลับฝั่งกันแล้วก็ยังตามคนเดิมได้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1050" y="3300412"/>
            <a:ext cx="3219450" cy="35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เปิด-ปิดชั้นข้อมูลได้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1050" y="3561308"/>
            <a:ext cx="3219450" cy="590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สโมค แฟลช HE โมโลตอฟ และชั้นจากโมเดล ติ๊กดูทีละอย่างได้ ไม่ต้องดูรกทั้งหมดพร้อมกัน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50082" y="628650"/>
            <a:ext cx="9694218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Cas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368326"/>
            <a:ext cx="10896600" cy="403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476250"/>
            <a:ext cx="112618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07 ·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80010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ใครใช้ และใช้ทำอะไรได้บ้าง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6122194"/>
            <a:ext cx="109918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0" i="0">
                <a:solidFill>
                  <a:srgbClr val="625C52"/>
                </a:solidFill>
                <a:latin typeface="Anuphan"/>
              </a:rPr>
              <a:t>เส้นทึบ = คนกดใช้เอง · เส้นประ = ระบบเบื้องหลังทำให้เองหลังมีไฟล์เข้ามา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47912" y="628650"/>
            <a:ext cx="7222778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06426"/>
            <a:ext cx="2595562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" y="1415951"/>
            <a:ext cx="2576512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435376"/>
            <a:ext cx="196155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14712" y="1406426"/>
            <a:ext cx="2595562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4238" y="1415951"/>
            <a:ext cx="2576512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4712" y="4435376"/>
            <a:ext cx="218033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725" y="1406426"/>
            <a:ext cx="2595562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4435376"/>
            <a:ext cx="221456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48738" y="1406426"/>
            <a:ext cx="2595562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58262" y="1415951"/>
            <a:ext cx="2576512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48738" y="4435376"/>
            <a:ext cx="218629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owItWorks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06" y="2282726"/>
            <a:ext cx="1123950" cy="1123950"/>
          </a:xfrm>
          <a:prstGeom prst="rect">
            <a:avLst/>
          </a:prstGeom>
        </p:spPr>
      </p:pic>
      <p:pic>
        <p:nvPicPr>
          <p:cNvPr id="16" name="Picture 15" descr="HowItWorks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519" y="2282726"/>
            <a:ext cx="1123950" cy="1123950"/>
          </a:xfrm>
          <a:prstGeom prst="rect">
            <a:avLst/>
          </a:prstGeom>
        </p:spPr>
      </p:pic>
      <p:pic>
        <p:nvPicPr>
          <p:cNvPr id="17" name="Picture 16" descr="round_crop.jpg"/>
          <p:cNvPicPr>
            <a:picLocks noChangeAspect="1"/>
          </p:cNvPicPr>
          <p:nvPr/>
        </p:nvPicPr>
        <p:blipFill>
          <a:blip r:embed="rId4"/>
          <a:srcRect l="4857" r="4858"/>
          <a:stretch>
            <a:fillRect/>
          </a:stretch>
        </p:blipFill>
        <p:spPr>
          <a:xfrm>
            <a:off x="6191250" y="1415951"/>
            <a:ext cx="2576512" cy="2857500"/>
          </a:xfrm>
          <a:prstGeom prst="rect">
            <a:avLst/>
          </a:prstGeom>
        </p:spPr>
      </p:pic>
      <p:pic>
        <p:nvPicPr>
          <p:cNvPr id="18" name="Picture 17" descr="mir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744" y="1596926"/>
            <a:ext cx="2495550" cy="2495550"/>
          </a:xfrm>
          <a:prstGeom prst="rect">
            <a:avLst/>
          </a:prstGeom>
        </p:spPr>
      </p:pic>
      <p:pic>
        <p:nvPicPr>
          <p:cNvPr id="19" name="Picture 18" descr="HowItWorks_fi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8744" y="1596926"/>
            <a:ext cx="2495550" cy="2495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8650" y="476250"/>
            <a:ext cx="16240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08 · แอปทำงานอย่างไร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3090" y="495300"/>
            <a:ext cx="189741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อธิบายแบบไม่ต้องรู้จักเกมมาก่อน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8191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จากไฟล์ที่คนอ่านไม่ออก มาเป็นภาพที่อธิบายได้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4435376"/>
            <a:ext cx="13900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005" y="4378226"/>
            <a:ext cx="144571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เกมบันทึกไว้ให้แล้ว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4654451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ทุกนัดมีไฟล์บันทึกการแข่งติดมาด้วย เหมือนกล้องวงจรปิดที่ถ่ายไว้ทั้งสนาม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1862" y="4435376"/>
            <a:ext cx="16088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9896" y="4378226"/>
            <a:ext cx="18954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เราแกะออกมาเป็นตาราง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5662" y="4654451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ใคร อยู่พิกัดไหน วินาทีที่เท่าไร เกิดอะไรขึ้น — กลายเป็นข้อมูลที่คำนวณต่อได้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875" y="4435376"/>
            <a:ext cx="1643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331" y="4378226"/>
            <a:ext cx="154900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วางลงบนภาพแผนที่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2675" y="4654451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พิกัดในเกมถูกแปลงเป็นจุดบนภาพแผนที่จริง คนที่ไม่เคยเล่นก็ดูออกว่าเกิดอะไรตรงไหน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5888" y="4435376"/>
            <a:ext cx="1614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4516" y="4378226"/>
            <a:ext cx="180096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4161A"/>
                </a:solidFill>
                <a:latin typeface="Chakra Petch"/>
              </a:rPr>
              <a:t>เทียบกับของเดิม 50 นัด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9688" y="4654451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น้ำเงินคือฝั่ง CT เคยได้เปรียบตรงนั้น ส้มคือฝั่ง T ได้เปรียบ — บอกว่าที่เกิดขึ้นปกติหรือผิดปกติ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6122194"/>
            <a:ext cx="109918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0" i="0">
                <a:solidFill>
                  <a:srgbClr val="625C52"/>
                </a:solidFill>
                <a:latin typeface="Anuphan"/>
              </a:rPr>
              <a:t>ขั้นที่ 1–2 คือการแกะข้อมูล ขั้นที่ 3–4 คือการทำให้คนอ่านรู้เรื่อง — สิ่งที่ยากจริง ๆ อยู่ที่สองขั้นหลัง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28416" y="628650"/>
            <a:ext cx="7422803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06426"/>
            <a:ext cx="2595562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4712" y="1406426"/>
            <a:ext cx="2595562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81725" y="1406426"/>
            <a:ext cx="2595562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48738" y="1406426"/>
            <a:ext cx="2595562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umb_matches.jpg"/>
          <p:cNvPicPr>
            <a:picLocks noChangeAspect="1"/>
          </p:cNvPicPr>
          <p:nvPr/>
        </p:nvPicPr>
        <p:blipFill>
          <a:blip r:embed="rId2"/>
          <a:srcRect l="2296" r="2297"/>
          <a:stretch>
            <a:fillRect/>
          </a:stretch>
        </p:blipFill>
        <p:spPr>
          <a:xfrm>
            <a:off x="657225" y="1415951"/>
            <a:ext cx="2576512" cy="3486150"/>
          </a:xfrm>
          <a:prstGeom prst="rect">
            <a:avLst/>
          </a:prstGeom>
        </p:spPr>
      </p:pic>
      <p:pic>
        <p:nvPicPr>
          <p:cNvPr id="9" name="Picture 8" descr="thumb_match.jpg"/>
          <p:cNvPicPr>
            <a:picLocks noChangeAspect="1"/>
          </p:cNvPicPr>
          <p:nvPr/>
        </p:nvPicPr>
        <p:blipFill>
          <a:blip r:embed="rId3"/>
          <a:srcRect l="2296" r="2297"/>
          <a:stretch>
            <a:fillRect/>
          </a:stretch>
        </p:blipFill>
        <p:spPr>
          <a:xfrm>
            <a:off x="3424238" y="1415951"/>
            <a:ext cx="2576512" cy="3486150"/>
          </a:xfrm>
          <a:prstGeom prst="rect">
            <a:avLst/>
          </a:prstGeom>
        </p:spPr>
      </p:pic>
      <p:pic>
        <p:nvPicPr>
          <p:cNvPr id="10" name="Picture 9" descr="thumb_round.jpg"/>
          <p:cNvPicPr>
            <a:picLocks noChangeAspect="1"/>
          </p:cNvPicPr>
          <p:nvPr/>
        </p:nvPicPr>
        <p:blipFill>
          <a:blip r:embed="rId4"/>
          <a:srcRect l="2296" r="2297"/>
          <a:stretch>
            <a:fillRect/>
          </a:stretch>
        </p:blipFill>
        <p:spPr>
          <a:xfrm>
            <a:off x="6191250" y="1415951"/>
            <a:ext cx="2576512" cy="3486150"/>
          </a:xfrm>
          <a:prstGeom prst="rect">
            <a:avLst/>
          </a:prstGeom>
        </p:spPr>
      </p:pic>
      <p:pic>
        <p:nvPicPr>
          <p:cNvPr id="11" name="Picture 10" descr="thumb_player.jpg"/>
          <p:cNvPicPr>
            <a:picLocks noChangeAspect="1"/>
          </p:cNvPicPr>
          <p:nvPr/>
        </p:nvPicPr>
        <p:blipFill>
          <a:blip r:embed="rId5"/>
          <a:srcRect l="2296" r="2297"/>
          <a:stretch>
            <a:fillRect/>
          </a:stretch>
        </p:blipFill>
        <p:spPr>
          <a:xfrm>
            <a:off x="8958262" y="1415951"/>
            <a:ext cx="2576512" cy="3486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8650" y="476250"/>
            <a:ext cx="160451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09 · USER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3619" y="495300"/>
            <a:ext cx="171688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ทีมสมัครเล่นที่ไม่มีนักวิเคราะห์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8191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หนึ่งคืนหลังซ้อม — ตั้งแต่ลากไฟล์จนได้ข้อสรุป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5025926"/>
            <a:ext cx="41210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ขั้นที่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705" y="4997351"/>
            <a:ext cx="113317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สี่ทุ่ม · ซ้อมเสร็จ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5235476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โค้ชลากไฟล์เดโมของคืนนี้ทิ้งไว้ในเว็บ แล้วปิดเครื่องกลับบ้าน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5662" y="5025926"/>
            <a:ext cx="43576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ขั้นที่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2381" y="4997351"/>
            <a:ext cx="86588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เช้าวันรุ่งขึ้น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5662" y="5235476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เปิดสกอร์บอร์ดขึ้นมา เห็นว่าคนเปิดรอบของทีมตายก่อนบ่อยกว่าที่รู้สึก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2675" y="5025926"/>
            <a:ext cx="43948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ขั้นที่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114" y="4997351"/>
            <a:ext cx="131296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กดเข้าไปดูรอบจริง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2675" y="5235476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เลือกรอบที่เสียคนแรกเร็ว เห็นว่าตายจุดเดิมซ้ำ ๆ ไม่ใช่เรื่องบังเอิญ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9688" y="5025926"/>
            <a:ext cx="43651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ขั้นที่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7150" y="4997351"/>
            <a:ext cx="125075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ก่อนซ้อมรอบหน้า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9688" y="5235476"/>
            <a:ext cx="2690812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3A3E44"/>
                </a:solidFill>
                <a:latin typeface="Anuphan"/>
              </a:rPr>
              <a:t>เปิดสถิติรายคนดูว่าเป็นที่คนเดียวหรือทั้งทีม แล้วคุยกันโดยชี้ที่ภาพ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6122194"/>
            <a:ext cx="109918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0" i="0">
                <a:solidFill>
                  <a:srgbClr val="625C52"/>
                </a:solidFill>
                <a:latin typeface="Anuphan"/>
              </a:rPr>
              <a:t>จุดสำคัญคือไม่มีขั้นไหนต้องรอคน — ระบบแกะไฟล์ให้เองตั้งแต่คืนก่อน พอเช้ามาข้อมูลพร้อมใช้แล้ว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6770" y="628650"/>
            <a:ext cx="9527530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406426"/>
            <a:ext cx="108966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476250"/>
            <a:ext cx="12928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10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80010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ห้าส่วนที่ทำงานแยกกัน แต่ต่อกันเป็นสายเดียว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900738"/>
            <a:ext cx="36004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1" i="0">
                <a:solidFill>
                  <a:srgbClr val="14161A"/>
                </a:solidFill>
                <a:latin typeface="Anuphan"/>
              </a:rPr>
              <a:t>เส้นทึบ</a:t>
            </a:r>
            <a:r>
              <a:rPr sz="1160" b="0" i="0">
                <a:solidFill>
                  <a:srgbClr val="625C52"/>
                </a:solidFill>
                <a:latin typeface="Anuphan"/>
              </a:rPr>
              <a:t> = ทำทันทีตอนคนกด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850" y="5900738"/>
            <a:ext cx="7105650" cy="57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1" i="0">
                <a:solidFill>
                  <a:srgbClr val="14161A"/>
                </a:solidFill>
                <a:latin typeface="Anuphan"/>
              </a:rPr>
              <a:t>เส้นประ</a:t>
            </a:r>
            <a:r>
              <a:rPr sz="1160" b="0" i="0">
                <a:solidFill>
                  <a:srgbClr val="625C52"/>
                </a:solidFill>
                <a:latin typeface="Anuphan"/>
              </a:rPr>
              <a:t> = ทำไว้ล่วงหน้า เพราะการอ่านไฟล์หนึ่งนัดใช้เวลาเป็นนาที ถ้าทำในเซิร์ฟเวอร์หลักทุกคนจะค้างรอพร้อมกัน และคำตอบของโมเดลก็ไม่เปลี่ยนจนกว่าจะมีข้อมูลใหม่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98378" y="628650"/>
            <a:ext cx="9045922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5461695"/>
            <a:ext cx="5362575" cy="90100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1725" y="5461695"/>
            <a:ext cx="5362575" cy="901005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917353"/>
            <a:ext cx="2628900" cy="2628900"/>
          </a:xfrm>
          <a:prstGeom prst="rect">
            <a:avLst/>
          </a:prstGeom>
        </p:spPr>
      </p:pic>
      <p:pic>
        <p:nvPicPr>
          <p:cNvPr id="7" name="Picture 6" descr="Challenges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17353"/>
            <a:ext cx="2628900" cy="2628900"/>
          </a:xfrm>
          <a:prstGeom prst="rect">
            <a:avLst/>
          </a:prstGeom>
        </p:spPr>
      </p:pic>
      <p:pic>
        <p:nvPicPr>
          <p:cNvPr id="8" name="Picture 7" descr="mi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17353"/>
            <a:ext cx="2628900" cy="2628900"/>
          </a:xfrm>
          <a:prstGeom prst="rect">
            <a:avLst/>
          </a:prstGeom>
        </p:spPr>
      </p:pic>
      <p:pic>
        <p:nvPicPr>
          <p:cNvPr id="9" name="Picture 8" descr="Challenges_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17353"/>
            <a:ext cx="2628900" cy="2628900"/>
          </a:xfrm>
          <a:prstGeom prst="rect">
            <a:avLst/>
          </a:prstGeom>
        </p:spPr>
      </p:pic>
      <p:pic>
        <p:nvPicPr>
          <p:cNvPr id="10" name="Picture 9" descr="Challenges_fi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688753"/>
            <a:ext cx="4857750" cy="3028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650" y="476250"/>
            <a:ext cx="177447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11 · ปัญหาที่เจอระหว่างทำ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800100"/>
            <a:ext cx="10991850" cy="526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20" b="1" i="0">
                <a:solidFill>
                  <a:srgbClr val="14161A"/>
                </a:solidFill>
                <a:latin typeface="Chakra Petch"/>
              </a:rPr>
              <a:t>สองเรื่องที่มองด้วยตาเปล่าไม่เห็น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1326803"/>
            <a:ext cx="5505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61A"/>
                </a:solidFill>
                <a:latin typeface="Chakra Petch"/>
              </a:rPr>
              <a:t>ค่าปรับเทียบผิดแล้วมองไม่ออก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1669703"/>
            <a:ext cx="27241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Chakra Petch"/>
              </a:rPr>
              <a:t>ค่าที่ถูก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950" y="1669703"/>
            <a:ext cx="27241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B8500A"/>
                </a:solidFill>
                <a:latin typeface="Chakra Petch"/>
              </a:rPr>
              <a:t>ค่าที่เพี้ยนไป 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4622453"/>
            <a:ext cx="5505450" cy="754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625C52"/>
                </a:solidFill>
                <a:latin typeface="Anuphan"/>
              </a:rPr>
              <a:t>จุดชุดเดียวกันทั้งสองภาพ ต่างกันแค่ค่าที่ใช้แปลงพิกัด — ภาพขวายังดูเป็นแผนที่ปกติ แต่จุดหลุดออกนอกกำแพงไปหมด </a:t>
            </a:r>
            <a:r>
              <a:rPr sz="1090" b="1" i="0">
                <a:solidFill>
                  <a:srgbClr val="625C52"/>
                </a:solidFill>
                <a:latin typeface="Anuphan"/>
              </a:rPr>
              <a:t>วิธีแก้:</a:t>
            </a:r>
            <a:r>
              <a:rPr sz="1090" b="0" i="0">
                <a:solidFill>
                  <a:srgbClr val="625C52"/>
                </a:solidFill>
                <a:latin typeface="Anuphan"/>
              </a:rPr>
              <a:t> เขียนสคริปต์ตรวจก่อนใช้งานทุกครั้ง ว่าจุดตกบนพื้นที่ที่เดินได้กี่เปอร์เซ็นต์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1326803"/>
            <a:ext cx="5295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61A"/>
                </a:solidFill>
                <a:latin typeface="Chakra Petch"/>
              </a:rPr>
              <a:t>ข้อมูลน้อยแต่ดูเหมือนคำตอบ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4736753"/>
            <a:ext cx="5295900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90" b="0" i="0">
                <a:solidFill>
                  <a:srgbClr val="B45309"/>
                </a:solidFill>
                <a:latin typeface="Anuphan"/>
              </a:rPr>
              <a:t>●</a:t>
            </a:r>
            <a:r>
              <a:rPr sz="1090" b="0" i="0">
                <a:solidFill>
                  <a:srgbClr val="625C52"/>
                </a:solidFill>
                <a:latin typeface="Anuphan"/>
              </a:rPr>
              <a:t> ค่าดิบ · </a:t>
            </a:r>
            <a:r>
              <a:rPr sz="1090" b="0" i="0">
                <a:solidFill>
                  <a:srgbClr val="1F57AB"/>
                </a:solidFill>
                <a:latin typeface="Anuphan"/>
              </a:rPr>
              <a:t>●</a:t>
            </a:r>
            <a:r>
              <a:rPr sz="1090" b="0" i="0">
                <a:solidFill>
                  <a:srgbClr val="625C52"/>
                </a:solidFill>
                <a:latin typeface="Anuphan"/>
              </a:rPr>
              <a:t> ค่าที่ระบบใช้จริง · </a:t>
            </a:r>
            <a:r>
              <a:rPr sz="1090" b="0" i="0">
                <a:solidFill>
                  <a:srgbClr val="1F57AB"/>
                </a:solidFill>
                <a:latin typeface="Anuphan"/>
              </a:rPr>
              <a:t>– –</a:t>
            </a:r>
            <a:r>
              <a:rPr sz="1090" b="0" i="0">
                <a:solidFill>
                  <a:srgbClr val="625C52"/>
                </a:solidFill>
                <a:latin typeface="Anuphan"/>
              </a:rPr>
              <a:t> ค่ากลางของแผนที่ 54% — ช่องที่ปะทะไม่กี่ครั้งได้ 0% หรือ 100% ง่ายมาก </a:t>
            </a:r>
            <a:r>
              <a:rPr sz="1090" b="1" i="0">
                <a:solidFill>
                  <a:srgbClr val="625C52"/>
                </a:solidFill>
                <a:latin typeface="Anuphan"/>
              </a:rPr>
              <a:t>วิธีแก้:</a:t>
            </a:r>
            <a:r>
              <a:rPr sz="1090" b="0" i="0">
                <a:solidFill>
                  <a:srgbClr val="625C52"/>
                </a:solidFill>
                <a:latin typeface="Anuphan"/>
              </a:rPr>
              <a:t> ยิ่งข้อมูลน้อยยิ่งดึงกลับเข้าหาค่ากลางแรงขึ้น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585520"/>
            <a:ext cx="50958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61A"/>
                </a:solidFill>
                <a:latin typeface="Chakra Petch"/>
              </a:rPr>
              <a:t>ไฟล์ใหญ่ทำให้เว็บค้าง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5814120"/>
            <a:ext cx="5095875" cy="326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 i="0">
                <a:solidFill>
                  <a:srgbClr val="1F57AB"/>
                </a:solidFill>
                <a:latin typeface="Anuphan"/>
              </a:rPr>
              <a:t>วิธีแก้ →</a:t>
            </a:r>
            <a:r>
              <a:rPr sz="1050" b="0" i="0">
                <a:solidFill>
                  <a:srgbClr val="3A3E44"/>
                </a:solidFill>
                <a:latin typeface="Anuphan"/>
              </a:rPr>
              <a:t> แยกงานหนักไปไว้ในคิว มีตัวประมวลผลต่างหากคอยรับ หน้าเว็บแค่รายงานสถานะ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650" y="5585520"/>
            <a:ext cx="50958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4161A"/>
                </a:solidFill>
                <a:latin typeface="Chakra Petch"/>
              </a:rPr>
              <a:t>แผนที่มีหลายชั้น แต่ตารางมองเป็นแผ่นเดียว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650" y="5814120"/>
            <a:ext cx="5095875" cy="520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 i="0">
                <a:solidFill>
                  <a:srgbClr val="B8500A"/>
                </a:solidFill>
                <a:latin typeface="Anuphan"/>
              </a:rPr>
              <a:t>ยังไม่แก้ →</a:t>
            </a:r>
            <a:r>
              <a:rPr sz="1050" b="0" i="0">
                <a:solidFill>
                  <a:srgbClr val="3A3E44"/>
                </a:solidFill>
                <a:latin typeface="Anuphan"/>
              </a:rPr>
              <a:t> จำกัดขอบเขตไว้ที่แผนที่ชั้นเดียวก่อน และบอกข้อจำกัดตรง ๆ แทนที่จะแสดงผลที่เชื่อไม่ได้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5079" y="628650"/>
            <a:ext cx="8441829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44526"/>
            <a:ext cx="3505200" cy="28765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" y="1454051"/>
            <a:ext cx="3486150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4492526"/>
            <a:ext cx="196155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444526"/>
            <a:ext cx="3505200" cy="28765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2925" y="1454051"/>
            <a:ext cx="3486150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492526"/>
            <a:ext cx="218033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39100" y="1444526"/>
            <a:ext cx="3505200" cy="28765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8625" y="1454051"/>
            <a:ext cx="3486150" cy="28575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9100" y="4492526"/>
            <a:ext cx="221456" cy="190500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5834062"/>
            <a:ext cx="10896600" cy="5286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5834062"/>
            <a:ext cx="38100" cy="528638"/>
          </a:xfrm>
          <a:prstGeom prst="rect">
            <a:avLst/>
          </a:prstGeom>
          <a:solidFill>
            <a:srgbClr val="B85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doption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320826"/>
            <a:ext cx="1123950" cy="1123950"/>
          </a:xfrm>
          <a:prstGeom prst="rect">
            <a:avLst/>
          </a:prstGeom>
        </p:spPr>
      </p:pic>
      <p:pic>
        <p:nvPicPr>
          <p:cNvPr id="16" name="Picture 15" descr="Adoption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2320826"/>
            <a:ext cx="1123950" cy="1123950"/>
          </a:xfrm>
          <a:prstGeom prst="rect">
            <a:avLst/>
          </a:prstGeom>
        </p:spPr>
      </p:pic>
      <p:pic>
        <p:nvPicPr>
          <p:cNvPr id="17" name="Picture 16" descr="Adoption_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725" y="2320826"/>
            <a:ext cx="1123950" cy="1123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8650" y="476250"/>
            <a:ext cx="11011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12 · นำไปใช้จริง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9308" y="495300"/>
            <a:ext cx="12011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ก้าวถัดไปหลังส่งงาน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" y="83820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ส่งให้ชมรมใช้จริง แล้วเอาเสียงจริงมาปรับ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492526"/>
            <a:ext cx="13900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30" y="4425851"/>
            <a:ext cx="205546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ส่งให้ชมรม Esport ใช้จริง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4711601"/>
            <a:ext cx="3600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ผู้ใช้กลุ่มแรกคือชมรม Esport — เอาเดโมที่ซ้อมกันเองมาอัปโหลดแล้วใช้รีวิวจริง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0550" y="4492526"/>
            <a:ext cx="16088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8108" y="4425851"/>
            <a:ext cx="201513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เก็บ feedback จากคนใช้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4350" y="4711601"/>
            <a:ext cx="3600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ใช้แบบสอบถามที่เตรียมไว้ ถามว่าหาอะไรไม่เจอ ตรงไหนงง ตรงไหนอยากได้เพิ่ม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0" y="4492526"/>
            <a:ext cx="1643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7231" y="4425851"/>
            <a:ext cx="252859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20" b="1" i="0">
                <a:solidFill>
                  <a:srgbClr val="14161A"/>
                </a:solidFill>
                <a:latin typeface="Chakra Petch"/>
              </a:rPr>
              <a:t>ปรับระบบ + เพิ่มหน้า economy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0050" y="4711601"/>
            <a:ext cx="36004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0" b="0" i="0">
                <a:solidFill>
                  <a:srgbClr val="3A3E44"/>
                </a:solidFill>
                <a:latin typeface="Anuphan"/>
              </a:rPr>
              <a:t>แก้ตามที่ติด แล้วเปิดข้อมูลเศรษฐกิจรายรอบที่แกะเก็บไว้แล้วให้ดูได้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5843588"/>
            <a:ext cx="10744200" cy="604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40" b="1" i="0">
                <a:solidFill>
                  <a:srgbClr val="14161A"/>
                </a:solidFill>
                <a:latin typeface="Anuphan"/>
              </a:rPr>
              <a:t>ข้อมูลเศรษฐกิจถูกแกะเก็บไว้ตั้งแต่ตอนอ่านไฟล์แล้ว</a:t>
            </a:r>
            <a:r>
              <a:rPr sz="1240" b="0" i="0">
                <a:solidFill>
                  <a:srgbClr val="3A3E44"/>
                </a:solidFill>
                <a:latin typeface="Anuphan"/>
              </a:rPr>
              <a:t> — มูลค่าอุปกรณ์ทั้งทีมตอนจบ freeze time และประเภทการซื้อ (full / force / eco) เหลือแค่ทำหน้าแสดงผล ยังไม่ต้องแกะไฟล์ใหม่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36824" y="628650"/>
            <a:ext cx="9807476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1353" y="3501926"/>
            <a:ext cx="9698236" cy="19050"/>
          </a:xfrm>
          <a:prstGeom prst="rect">
            <a:avLst/>
          </a:prstGeom>
          <a:solidFill>
            <a:srgbClr val="DD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2199382"/>
            <a:ext cx="2057400" cy="1092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2199382"/>
            <a:ext cx="2057400" cy="28575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5575" y="2199382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3282851"/>
            <a:ext cx="205740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2199382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66862" y="3425726"/>
            <a:ext cx="219075" cy="219075"/>
          </a:xfrm>
          <a:prstGeom prst="ellipse">
            <a:avLst/>
          </a:prstGeom>
          <a:solidFill>
            <a:srgbClr val="1F57AB"/>
          </a:solidFill>
          <a:ln w="28575">
            <a:solidFill>
              <a:srgbClr val="FBF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76662" y="3425726"/>
            <a:ext cx="219075" cy="219075"/>
          </a:xfrm>
          <a:prstGeom prst="ellipse">
            <a:avLst/>
          </a:prstGeom>
          <a:solidFill>
            <a:srgbClr val="1F57AB"/>
          </a:solidFill>
          <a:ln w="28575">
            <a:solidFill>
              <a:srgbClr val="FBF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7500" y="3778151"/>
            <a:ext cx="2057400" cy="1092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7500" y="3778151"/>
            <a:ext cx="2057400" cy="28575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05375" y="3778151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7500" y="4861620"/>
            <a:ext cx="205740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7500" y="3778151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7300" y="2002929"/>
            <a:ext cx="2057400" cy="12894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7300" y="2002929"/>
            <a:ext cx="2057400" cy="28575"/>
          </a:xfrm>
          <a:prstGeom prst="rect">
            <a:avLst/>
          </a:prstGeom>
          <a:solidFill>
            <a:srgbClr val="B85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5175" y="2002929"/>
            <a:ext cx="9525" cy="1289447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300" y="3282851"/>
            <a:ext cx="205740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7300" y="2002929"/>
            <a:ext cx="9525" cy="1289447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6462" y="3425726"/>
            <a:ext cx="219075" cy="219075"/>
          </a:xfrm>
          <a:prstGeom prst="ellipse">
            <a:avLst/>
          </a:prstGeom>
          <a:solidFill>
            <a:srgbClr val="B8500A"/>
          </a:solidFill>
          <a:ln w="28575">
            <a:solidFill>
              <a:srgbClr val="FBF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96262" y="3425726"/>
            <a:ext cx="219075" cy="219075"/>
          </a:xfrm>
          <a:prstGeom prst="ellipse">
            <a:avLst/>
          </a:prstGeom>
          <a:solidFill>
            <a:srgbClr val="B8500A"/>
          </a:solidFill>
          <a:ln w="28575">
            <a:solidFill>
              <a:srgbClr val="FBF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77100" y="3778151"/>
            <a:ext cx="2057400" cy="1092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7100" y="3778151"/>
            <a:ext cx="2057400" cy="28575"/>
          </a:xfrm>
          <a:prstGeom prst="rect">
            <a:avLst/>
          </a:prstGeom>
          <a:solidFill>
            <a:srgbClr val="B85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4975" y="3778151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7100" y="4861620"/>
            <a:ext cx="205740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7100" y="3778151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86900" y="2199382"/>
            <a:ext cx="2057400" cy="10929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86900" y="2199382"/>
            <a:ext cx="2057400" cy="28575"/>
          </a:xfrm>
          <a:prstGeom prst="rect">
            <a:avLst/>
          </a:prstGeom>
          <a:solidFill>
            <a:srgbClr val="62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34775" y="2199382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6900" y="3282851"/>
            <a:ext cx="2057400" cy="9525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86900" y="2199382"/>
            <a:ext cx="9525" cy="1092994"/>
          </a:xfrm>
          <a:prstGeom prst="rect">
            <a:avLst/>
          </a:prstGeom>
          <a:solidFill>
            <a:srgbClr val="E6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06062" y="3425726"/>
            <a:ext cx="219075" cy="219075"/>
          </a:xfrm>
          <a:prstGeom prst="ellipse">
            <a:avLst/>
          </a:prstGeom>
          <a:solidFill>
            <a:srgbClr val="625C52"/>
          </a:solidFill>
          <a:ln w="28575">
            <a:solidFill>
              <a:srgbClr val="FBF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650" y="476250"/>
            <a:ext cx="101292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13 · แผนต่อไป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" y="80010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สิ่งที่จะทำต่อ เรียงตามความสำคัญ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2332732"/>
            <a:ext cx="1847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F57AB"/>
                </a:solidFill>
                <a:latin typeface="Chakra Petch"/>
              </a:rPr>
              <a:t>ลำดับแรก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050" y="2532757"/>
            <a:ext cx="1847850" cy="329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ทดสอบกับทีมจริง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050" y="2767310"/>
            <a:ext cx="1847850" cy="50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3A3E44"/>
                </a:solidFill>
                <a:latin typeface="Anuphan"/>
              </a:rPr>
              <a:t>ให้ทีมนั่งใช้จริง แล้วดูว่าหาอะไรไม่เจอบ้าง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0850" y="3911501"/>
            <a:ext cx="1847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F57AB"/>
                </a:solidFill>
                <a:latin typeface="Chakra Petch"/>
              </a:rPr>
              <a:t>ลำดับแรก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850" y="4111526"/>
            <a:ext cx="1847850" cy="329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รองรับแผนที่เพิ่ม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0850" y="4346079"/>
            <a:ext cx="1847850" cy="50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3A3E44"/>
                </a:solidFill>
                <a:latin typeface="Anuphan"/>
              </a:rPr>
              <a:t>ตอนนี้ปรับเทียบไว้ 2 แผนที่ ต้องเก็บค่าของที่เหลือ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00650" y="2136279"/>
            <a:ext cx="1847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8500A"/>
                </a:solidFill>
                <a:latin typeface="Chakra Petch"/>
              </a:rPr>
              <a:t>ถัดไป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0650" y="2336304"/>
            <a:ext cx="1847850" cy="526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ตรวจว่าใช้กับคนทั่วไปได้จริงไหม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0650" y="2767310"/>
            <a:ext cx="1847850" cy="50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3A3E44"/>
                </a:solidFill>
                <a:latin typeface="Anuphan"/>
              </a:rPr>
              <a:t>สิ่งที่ได้ผลกับทีมอาชีพอาจไม่ได้ผลกับผู้เล่นทั่วไป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0450" y="3911501"/>
            <a:ext cx="1847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8500A"/>
                </a:solidFill>
                <a:latin typeface="Chakra Petch"/>
              </a:rPr>
              <a:t>ถัดไป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0450" y="4111526"/>
            <a:ext cx="1847850" cy="329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รองรับแผนที่หลายชั้น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10450" y="4346079"/>
            <a:ext cx="1847850" cy="50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3A3E44"/>
                </a:solidFill>
                <a:latin typeface="Anuphan"/>
              </a:rPr>
              <a:t>เพิ่มความสูงเข้าไปในการคำนวณ ไม่ให้ชั้นบนล่างถูกนับรวมกัน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0250" y="2332732"/>
            <a:ext cx="1847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25C52"/>
                </a:solidFill>
                <a:latin typeface="Chakra Petch"/>
              </a:rPr>
              <a:t>ภายหลัง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0250" y="2532757"/>
            <a:ext cx="1847850" cy="329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40" b="1" i="0">
                <a:solidFill>
                  <a:srgbClr val="14161A"/>
                </a:solidFill>
                <a:latin typeface="Chakra Petch"/>
              </a:rPr>
              <a:t>รื้อหน้าเว็บให้อ่านง่ายขึ้น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0250" y="2767310"/>
            <a:ext cx="1847850" cy="506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10" b="0" i="0">
                <a:solidFill>
                  <a:srgbClr val="3A3E44"/>
                </a:solidFill>
                <a:latin typeface="Anuphan"/>
              </a:rPr>
              <a:t>พร้อมโหมดสว่าง/มืด — สิ่งที่ผู้ใช้ติดมากที่สุดคือการหาเมนู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" y="6122194"/>
            <a:ext cx="109918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60" b="0" i="0">
                <a:solidFill>
                  <a:srgbClr val="625C52"/>
                </a:solidFill>
                <a:latin typeface="Anuphan"/>
              </a:rPr>
              <a:t>สองข้อแรกต้องเสร็จก่อนจะเอาไปใช้กับทีมจริงได้ — ที่เหลือเป็นการขยายขอบเขต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29668" y="628650"/>
            <a:ext cx="9039671" cy="9525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1406426"/>
            <a:ext cx="3467100" cy="16192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" y="1415951"/>
            <a:ext cx="3448050" cy="16002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3778300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778300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089648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4089648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400996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" y="4400996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4712345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4712345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5023693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5023693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2450" y="1406426"/>
            <a:ext cx="3467100" cy="16192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1975" y="1415951"/>
            <a:ext cx="3448050" cy="16002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2450" y="3778300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2450" y="3778300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2450" y="4089648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2450" y="4089648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2450" y="4400996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2450" y="4400996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2450" y="4712345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2450" y="4712345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2450" y="5023693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2450" y="5023693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2450" y="5335042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2450" y="5335042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7200" y="1406426"/>
            <a:ext cx="3467100" cy="1619250"/>
          </a:xfrm>
          <a:prstGeom prst="rect">
            <a:avLst/>
          </a:prstGeom>
          <a:noFill/>
          <a:ln w="9525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6725" y="1415951"/>
            <a:ext cx="3448050" cy="1600200"/>
          </a:xfrm>
          <a:prstGeom prst="rect">
            <a:avLst/>
          </a:prstGeom>
          <a:solidFill>
            <a:srgbClr val="11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7200" y="3778300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7200" y="3778300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77200" y="4089648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7200" y="4089648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7200" y="4400996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7200" y="4400996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77200" y="4712345"/>
            <a:ext cx="3467100" cy="311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7200" y="4712345"/>
            <a:ext cx="3467100" cy="9525"/>
          </a:xfrm>
          <a:prstGeom prst="rect">
            <a:avLst/>
          </a:prstGeom>
          <a:solidFill>
            <a:srgbClr val="EC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7700" y="6069806"/>
            <a:ext cx="10896600" cy="2928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700" y="6069806"/>
            <a:ext cx="38100" cy="292894"/>
          </a:xfrm>
          <a:prstGeom prst="rect">
            <a:avLst/>
          </a:prstGeom>
          <a:solidFill>
            <a:srgbClr val="1F5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eam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1654076"/>
            <a:ext cx="1123950" cy="1123950"/>
          </a:xfrm>
          <a:prstGeom prst="rect">
            <a:avLst/>
          </a:prstGeom>
        </p:spPr>
      </p:pic>
      <p:pic>
        <p:nvPicPr>
          <p:cNvPr id="43" name="Picture 42" descr="Team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1654076"/>
            <a:ext cx="1123950" cy="1123950"/>
          </a:xfrm>
          <a:prstGeom prst="rect">
            <a:avLst/>
          </a:prstGeom>
        </p:spPr>
      </p:pic>
      <p:pic>
        <p:nvPicPr>
          <p:cNvPr id="44" name="Picture 43" descr="Team_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1654076"/>
            <a:ext cx="1123950" cy="11239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8650" y="476250"/>
            <a:ext cx="90576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>
                <a:solidFill>
                  <a:srgbClr val="B8500A"/>
                </a:solidFill>
                <a:latin typeface="Chakra Petch"/>
              </a:rPr>
              <a:t>14 · แบ่งงาน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1739" y="495300"/>
            <a:ext cx="798761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625C52"/>
                </a:solidFill>
                <a:latin typeface="Chakra Petch"/>
              </a:rPr>
              <a:t>สมาชิก 3 คน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" y="819150"/>
            <a:ext cx="10991850" cy="54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80" b="1" i="0">
                <a:solidFill>
                  <a:srgbClr val="14161A"/>
                </a:solidFill>
                <a:latin typeface="Chakra Petch"/>
              </a:rPr>
              <a:t>สามคน สามส่วน ต่อกันเป็นระบบเดียว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" y="3130451"/>
            <a:ext cx="35623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0" b="1" i="0">
                <a:solidFill>
                  <a:srgbClr val="14161A"/>
                </a:solidFill>
                <a:latin typeface="Chakra Petch"/>
              </a:rPr>
              <a:t>Tan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650" y="3482876"/>
            <a:ext cx="3562350" cy="33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90" b="1" i="0">
                <a:solidFill>
                  <a:srgbClr val="B8500A"/>
                </a:solidFill>
                <a:latin typeface="Anuphan"/>
              </a:rPr>
              <a:t>ออกแบบ · ประสบการณ์ผู้ใช้ · สื่อนำเสนอ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650" y="3835450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279" y="3816400"/>
            <a:ext cx="865287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สไลด์นำเสนอ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" y="4146798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279" y="4127748"/>
            <a:ext cx="1844427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แบบสอบถาม (Google Form)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" y="4458146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279" y="4439096"/>
            <a:ext cx="932557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User journey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650" y="4769495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279" y="4750445"/>
            <a:ext cx="2242245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ออกแบบหน้าเว็บ (frontend design)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650" y="5080843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279" y="5061793"/>
            <a:ext cx="844302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งาน UX / UI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3130451"/>
            <a:ext cx="35623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0" b="1" i="0">
                <a:solidFill>
                  <a:srgbClr val="14161A"/>
                </a:solidFill>
                <a:latin typeface="Chakra Petch"/>
              </a:rPr>
              <a:t>Tay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3482876"/>
            <a:ext cx="3562350" cy="33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90" b="1" i="0">
                <a:solidFill>
                  <a:srgbClr val="B8500A"/>
                </a:solidFill>
                <a:latin typeface="Anuphan"/>
              </a:rPr>
              <a:t>โมเดล · สายข้อมูล · วิชาการและธุรกิจ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3835450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73029" y="3816400"/>
            <a:ext cx="1620887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โมเดล machine learning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146798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3029" y="4127748"/>
            <a:ext cx="1986260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สายประมวลผลข้อมูล (pipeline)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4458146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3029" y="4439096"/>
            <a:ext cx="792659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การนำเสนอ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43400" y="4769495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73029" y="4750445"/>
            <a:ext cx="884932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สัมภาษณ์ผู้ใช้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5080843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73029" y="5061793"/>
            <a:ext cx="1251496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โปสเตอร์และเปเปอร์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3400" y="5392192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73029" y="5373142"/>
            <a:ext cx="667643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ด้านธุรกิจ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58150" y="3130451"/>
            <a:ext cx="35623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0" b="1" i="0">
                <a:solidFill>
                  <a:srgbClr val="14161A"/>
                </a:solidFill>
                <a:latin typeface="Chakra Petch"/>
              </a:rPr>
              <a:t>Earth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58150" y="3482876"/>
            <a:ext cx="3562350" cy="33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90" b="1" i="0">
                <a:solidFill>
                  <a:srgbClr val="B8500A"/>
                </a:solidFill>
                <a:latin typeface="Anuphan"/>
              </a:rPr>
              <a:t>เบื้องหลังระบบ · ข้อมูล · แกะไฟล์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58150" y="3835450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87779" y="3816400"/>
            <a:ext cx="1623120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เซิร์ฟเวอร์หลัง (backend)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58150" y="4146798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7779" y="4127748"/>
            <a:ext cx="1545282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DevOps และการดีพลอย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58150" y="4458146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7779" y="4439096"/>
            <a:ext cx="677466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ฐานข้อมูล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58150" y="4769495"/>
            <a:ext cx="13915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>
                <a:solidFill>
                  <a:srgbClr val="1F57AB"/>
                </a:solidFill>
                <a:latin typeface="Anuphan"/>
              </a:rPr>
              <a:t>▪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87779" y="4750445"/>
            <a:ext cx="1606748" cy="339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0" b="0" i="0">
                <a:solidFill>
                  <a:srgbClr val="3A3E44"/>
                </a:solidFill>
                <a:latin typeface="Anuphan"/>
              </a:rPr>
              <a:t>ตัวแกะไฟล์เดโม (parsing)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6300" y="6079331"/>
            <a:ext cx="10744200" cy="369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40" b="0" i="0">
                <a:solidFill>
                  <a:srgbClr val="3A3E44"/>
                </a:solidFill>
                <a:latin typeface="Anuphan"/>
              </a:rPr>
              <a:t>เทียบกับแผนภาพสถาปัตยกรรมหน้าก่อน — </a:t>
            </a:r>
            <a:r>
              <a:rPr sz="1240" b="1" i="0">
                <a:solidFill>
                  <a:srgbClr val="14161A"/>
                </a:solidFill>
                <a:latin typeface="Anuphan"/>
              </a:rPr>
              <a:t>Tan</a:t>
            </a:r>
            <a:r>
              <a:rPr sz="1240" b="0" i="0">
                <a:solidFill>
                  <a:srgbClr val="3A3E44"/>
                </a:solidFill>
                <a:latin typeface="Anuphan"/>
              </a:rPr>
              <a:t> ดูกล่อง “หน้าเว็บ” · </a:t>
            </a:r>
            <a:r>
              <a:rPr sz="1240" b="1" i="0">
                <a:solidFill>
                  <a:srgbClr val="14161A"/>
                </a:solidFill>
                <a:latin typeface="Anuphan"/>
              </a:rPr>
              <a:t>Earth</a:t>
            </a:r>
            <a:r>
              <a:rPr sz="1240" b="0" i="0">
                <a:solidFill>
                  <a:srgbClr val="3A3E44"/>
                </a:solidFill>
                <a:latin typeface="Anuphan"/>
              </a:rPr>
              <a:t> ดู “เซิร์ฟเวอร์หลัก · คิวงาน · ตัวแกะไฟล์ · ฐานข้อมูล” · </a:t>
            </a:r>
            <a:r>
              <a:rPr sz="1240" b="1" i="0">
                <a:solidFill>
                  <a:srgbClr val="14161A"/>
                </a:solidFill>
                <a:latin typeface="Anuphan"/>
              </a:rPr>
              <a:t>Tay</a:t>
            </a:r>
            <a:r>
              <a:rPr sz="1240" b="0" i="0">
                <a:solidFill>
                  <a:srgbClr val="3A3E44"/>
                </a:solidFill>
                <a:latin typeface="Anuphan"/>
              </a:rPr>
              <a:t> ดู “โมเดล” และสายข้อมูลที่ป้อนเข้าไป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